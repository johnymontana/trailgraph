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billions</c:v>
                </c:pt>
              </c:strCache>
            </c:strRef>
          </c:tx>
          <c:spPr>
            <a:solidFill>
              <a:srgbClr val="2E7D52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3A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Outdoor rec
output</c:v>
                  </c:pt>
                  <c:pt idx="1">
                    <c:v>Outdoor rec
GDP</c:v>
                  </c:pt>
                  <c:pt idx="2">
                    <c:v>Camping
spend '24</c:v>
                  </c:pt>
                  <c:pt idx="3">
                    <c:v>NPS gateway
spend '24</c:v>
                  </c:pt>
                  <c:pt idx="4">
                    <c:v>RVing value
added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1300</c:v>
                </c:pt>
                <c:pt idx="1">
                  <c:v>696.7</c:v>
                </c:pt>
                <c:pt idx="2">
                  <c:v>61</c:v>
                </c:pt>
                <c:pt idx="3">
                  <c:v>29</c:v>
                </c:pt>
                <c:pt idx="4">
                  <c:v>27.5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3A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5F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2E7D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0.06</c:v>
                </c:pt>
                <c:pt idx="1">
                  <c:v>0.31</c:v>
                </c:pt>
                <c:pt idx="2">
                  <c:v>0.95</c:v>
                </c:pt>
                <c:pt idx="3">
                  <c:v>2.15</c:v>
                </c:pt>
                <c:pt idx="4">
                  <c:v>4.15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Affiliate / booking / data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0.03</c:v>
                </c:pt>
                <c:pt idx="2">
                  <c:v>0.12</c:v>
                </c:pt>
                <c:pt idx="3">
                  <c:v>0.34</c:v>
                </c:pt>
                <c:pt idx="4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F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EBE4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5F4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5F47"/>
                    </a:solidFill>
                    <a:latin typeface="Arial"/>
                  </a:rPr>
                  <a:t>Revenue (USD 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5F4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698480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57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TrailGraph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&amp; Market Positioning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graph-native, memory-powered trip planner for all U.S. public lands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B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 consumer freemium   ·   NPS · State · USFS · BLM   ·   Confidential draft,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 public-lands trip is fragmented and unforgiving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leading tool solves one slice — and forgets you between trips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0096" cy="19659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0253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 &amp; agencies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33172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 spans trails, campsites, routes, permits &amp; conditions across NPS, state, USFS and BLM — stitched across a dozen apps and tabs.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0216" y="1554480"/>
            <a:ext cx="5340096" cy="19659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4536" y="18470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0253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8936" y="1828800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reservation scramble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88936" y="233172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Reservable sites open on a 6-month window and summer dates “fill within seconds.” Timed-entry permits sell out in minutes.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0096" cy="19659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330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8853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14800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with no memory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461772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AI planners answer one prompt and forget you — they don’t know your rig length, accessibility needs, or trip history.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0216" y="3840480"/>
            <a:ext cx="5340096" cy="19659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4536" y="41330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28853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4114800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backcountry is offline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88936" y="461772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service dies exactly where help is needed — at the trailhead and campsite — yet most AI assistants are cloud-only.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vast, growing, AI-receptive 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recreation is a $1.3T economy — and trip planning is going AI-first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7178" cy="1325880"/>
          </a:xfrm>
          <a:prstGeom prst="roundRect">
            <a:avLst>
              <a:gd name="adj" fmla="val 5517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6420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rec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(2.4% of GDP, 5.2M jobs)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0138" y="1508760"/>
            <a:ext cx="2567178" cy="1325880"/>
          </a:xfrm>
          <a:prstGeom prst="roundRect">
            <a:avLst>
              <a:gd name="adj" fmla="val 5517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0138" y="166420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331.9M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81578" y="2212848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visits in 2024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record)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508760"/>
            <a:ext cx="2567178" cy="1325880"/>
          </a:xfrm>
          <a:prstGeom prst="roundRect">
            <a:avLst>
              <a:gd name="adj" fmla="val 5517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1636" y="166420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56M / $61B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23076" y="2212848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Americans camped / spent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73134" y="1508760"/>
            <a:ext cx="2567178" cy="1325880"/>
          </a:xfrm>
          <a:prstGeom prst="roundRect">
            <a:avLst>
              <a:gd name="adj" fmla="val 5517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3134" y="1664208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64574" y="2212848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travelers now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plan trips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063240"/>
          <a:ext cx="6949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818120" y="3154680"/>
            <a:ext cx="3822192" cy="1417320"/>
          </a:xfrm>
          <a:prstGeom prst="roundRect">
            <a:avLst>
              <a:gd name="adj" fmla="val 5161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01000" y="3291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$3.4B → 11% CAGR
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travel-planner app market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818120" y="4736592"/>
            <a:ext cx="3822192" cy="1463040"/>
          </a:xfrm>
          <a:prstGeom prst="roundRect">
            <a:avLst>
              <a:gd name="adj" fmla="val 5000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01000" y="487375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 → $15.5B
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travel app market by 2032 (23.8% CAGR)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BEA 2024; NPS 2024; KOA 2024; market.us; QYResearch.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focused, bootstrappable wedge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Conservative, defensible sizing — not top-down hype</a:t>
            </a:r>
            <a:endParaRPr lang="en-US" sz="1400" dirty="0"/>
          </a:p>
        </p:txBody>
      </p:sp>
      <p:pic>
        <p:nvPicPr>
          <p:cNvPr id="4" name="Image 0" descr="/sessions/elegant-stoic-hypatia/mnt/outputs/charts/02_tam_sam_s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035040" cy="35935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60020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23760" y="171907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21040" y="16916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$3.4B
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travel-planner app market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040880" y="30175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0" y="313639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21040" y="31089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~$650M
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public-lands trip-planning subscriptions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040880" y="44348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B5E3F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23760" y="455371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321040" y="45262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~$4–6M ARR
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 5-yr obtainable (~85–110k paid)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proven — but every leader is single-purpose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validate willingness to pay; none combine breadth + memory-native AI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  <a:gridCol w="914400"/>
                <a:gridCol w="69311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 → the 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A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AllTrails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 users, ~$150M ARR, best trail catalog → trails only; no camping, routing or memory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A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Dyrt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$36–60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1M+ reviews, offline + alerts → camping-centric; thin trails/itinerary; no AI memory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A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Wanderlog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Itineraries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 collaborative itineraries + AI → thin public-lands data; stateless 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A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Roadtrippers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trips / RV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$36–60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discovery + RV routing → route-centric; no availability alerting or memory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A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Gaia GPS / onX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maps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$30–100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offline topo &amp; GPS → maps, not planning; no agent or reservations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3A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NPS / Recreation.gov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 &amp; booking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Authoritative + booking rails → utility, not a planner; federal-only, no 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integrated, memory-native quadrant is open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TrailGraph’s wedge — and a compounding data + memory moat</a:t>
            </a:r>
            <a:endParaRPr lang="en-US" sz="1400" dirty="0"/>
          </a:p>
        </p:txBody>
      </p:sp>
      <p:pic>
        <p:nvPicPr>
          <p:cNvPr id="4" name="Image 0" descr="/sessions/elegant-stoic-hypatia/mnt/outputs/charts/04_positio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03720" cy="5138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600200"/>
            <a:ext cx="3959352" cy="1097280"/>
          </a:xfrm>
          <a:prstGeom prst="roundRect">
            <a:avLst>
              <a:gd name="adj" fmla="val 583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691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that defines a category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Whole-trip planning across NPS, state, USFS &amp; BLM — no incumbent spans all four.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680960" y="2825496"/>
            <a:ext cx="3959352" cy="1097280"/>
          </a:xfrm>
          <a:prstGeom prst="roundRect">
            <a:avLst>
              <a:gd name="adj" fmla="val 583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29169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that compounds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+ cross-trip memory get smarter with every user; single-purpose rivals can’t bolt it 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80960" y="4050792"/>
            <a:ext cx="3959352" cy="1097280"/>
          </a:xfrm>
          <a:prstGeom prst="roundRect">
            <a:avLst>
              <a:gd name="adj" fmla="val 583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63840" y="414223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nobody else has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on-device ranger that works without signal — the backcountry’s missing tool.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80960" y="5276088"/>
            <a:ext cx="3959352" cy="1097280"/>
          </a:xfrm>
          <a:prstGeom prst="roundRect">
            <a:avLst>
              <a:gd name="adj" fmla="val 583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536752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in the band
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at ~$39 vs. an established $30–60 willingness to pay.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and what the business needs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national-parks core proves the architecture; breadth + monetization come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today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Explorable national-park graph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ranger with graph-native memory (preferences &amp; constraints injected every turn)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planner + route drawing + GPX / calendar export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map &amp; graph explorer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module (decomposed NPS lesson plans)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508760"/>
            <a:ext cx="5330952" cy="4800600"/>
          </a:xfrm>
          <a:prstGeom prst="roundRect">
            <a:avLst>
              <a:gd name="adj" fmla="val 1524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for the plan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29400" y="2377440"/>
            <a:ext cx="4800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Multi-agency data pipeline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trails + campgrounds across NPS/state/USFS/BLM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trails &amp; activities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length, elevation, difficulty; activity-first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+ Camp Watch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live search + cancellation alerts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offline AI ranger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premium differentiator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billing &amp; entitlements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trials, tiers, referrals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/ booking funnel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revenue without processing payments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differentiator: an offline AI ranger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Itinerary intelligence that works when the signal doesn’t — no competitor offers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2194560" cy="2194560"/>
          </a:xfrm>
          <a:prstGeom prst="ellipse">
            <a:avLst/>
          </a:prstGeom>
          <a:solidFill>
            <a:srgbClr val="1B5E3F"/>
          </a:solidFill>
          <a:ln w="25400">
            <a:solidFill>
              <a:srgbClr val="74B0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907792"/>
            <a:ext cx="1051560" cy="1051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0" y="2286000"/>
            <a:ext cx="7982712" cy="1325880"/>
          </a:xfrm>
          <a:prstGeom prst="roundRect">
            <a:avLst>
              <a:gd name="adj" fmla="val 5517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931920" y="239572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dead zones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maps, trips and an on-device/edge model answer “what’s the next campsite with availability?” with zero bars.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0" y="3749040"/>
            <a:ext cx="7982712" cy="1325880"/>
          </a:xfrm>
          <a:prstGeom prst="roundRect">
            <a:avLst>
              <a:gd name="adj" fmla="val 5517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31920" y="385876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you, on device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rig, accessibility needs and trip history travel with you — privately — even offline.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0" y="5212080"/>
            <a:ext cx="7982712" cy="1325880"/>
          </a:xfrm>
          <a:prstGeom prst="roundRect">
            <a:avLst>
              <a:gd name="adj" fmla="val 5517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0" y="532180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 to go Pro+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concrete, daily-value upgrade that maps &amp; itinerary apps can’t match — and the highest-ARPU segment (RVers, overlanders) needs most.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a freemium ladder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drives discovery &amp; SEO; Pro unlocks power; Family/Overlander captures the highest spenders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4800600"/>
          </a:xfrm>
          <a:prstGeom prst="roundRect">
            <a:avLst>
              <a:gd name="adj" fmla="val 238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1168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47088"/>
            <a:ext cx="2081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37360" y="2240280"/>
            <a:ext cx="2081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281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Browsers &amp; first-timers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27675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ranger (limited)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parks, trails, camps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saved trip · 1 Camp Watch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Ads-free, community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7784" y="1554480"/>
            <a:ext cx="3453384" cy="4800600"/>
          </a:xfrm>
          <a:prstGeom prst="roundRect">
            <a:avLst>
              <a:gd name="adj" fmla="val 2383"/>
            </a:avLst>
          </a:prstGeom>
          <a:solidFill>
            <a:srgbClr val="1B5E3F"/>
          </a:solidFill>
          <a:ln w="25400">
            <a:solidFill>
              <a:srgbClr val="E8702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7824" y="184708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416" y="201168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6504" y="1847088"/>
            <a:ext cx="2081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556504" y="2240280"/>
            <a:ext cx="2081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~$39/yr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87824" y="2743200"/>
            <a:ext cx="281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hikers &amp; campers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733544" y="3200400"/>
            <a:ext cx="27675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ranger + trips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maps + trips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ranger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Camp Watch alerts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alerts, GPX/field briefs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6928" y="1554480"/>
            <a:ext cx="3453384" cy="4800600"/>
          </a:xfrm>
          <a:prstGeom prst="roundRect">
            <a:avLst>
              <a:gd name="adj" fmla="val 238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6968" y="184708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560" y="201168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75648" y="1847088"/>
            <a:ext cx="2081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/ Overlander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9375648" y="2240280"/>
            <a:ext cx="2081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~$69/yr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506968" y="2743200"/>
            <a:ext cx="281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Households, RVers, overlanders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52688" y="3200400"/>
            <a:ext cx="27675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 members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RV/rig-aware routing &amp; site fit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Dispersed / free-camping layer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alert scan cadence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capital-efficient &amp; compounding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CAC-light channels that the graph + content architecture is built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932688"/>
          </a:xfrm>
          <a:prstGeom prst="roundRect">
            <a:avLst>
              <a:gd name="adj" fmla="val 686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4650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65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SEO engine  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auto-generates interlinked park/trail/campground pages — programmatic SEO against high-intent queries.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6035040" cy="932688"/>
          </a:xfrm>
          <a:prstGeom prst="roundRect">
            <a:avLst>
              <a:gd name="adj" fmla="val 686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82549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4436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70662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Reservation-race wedge  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“Get alerted when a sold-out site opens” — a sharp, shareable hook with built-in urgency.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712464"/>
            <a:ext cx="6035040" cy="932688"/>
          </a:xfrm>
          <a:prstGeom prst="roundRect">
            <a:avLst>
              <a:gd name="adj" fmla="val 686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90448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785616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UGC  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trip reports &amp; saved trips deepen the graph and the moat while lowering content cost.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791456"/>
            <a:ext cx="6035040" cy="932688"/>
          </a:xfrm>
          <a:prstGeom prst="roundRect">
            <a:avLst>
              <a:gd name="adj" fmla="val 6863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4983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E4D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0235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86460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&amp; partnerships  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pushes to planning season + 6-month booking windows; gateway towns, gear/RV brands, creators.</a:t>
            </a:r>
            <a:endParaRPr lang="en-US" sz="1350" dirty="0"/>
          </a:p>
        </p:txBody>
      </p:sp>
      <p:pic>
        <p:nvPicPr>
          <p:cNvPr id="20" name="Image 4" descr="/sessions/elegant-stoic-hypatia/mnt/outputs/charts/06_funn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691640"/>
            <a:ext cx="4754880" cy="2926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freemium funnel — 4–6% free→paid is within the health-&amp;-fitness band (RevenueCat).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 — bootstrapped base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Subscription-led, profitable around Year 3, no outside capital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67912" cy="1024128"/>
          </a:xfrm>
          <a:prstGeom prst="roundRect">
            <a:avLst>
              <a:gd name="adj" fmla="val 7143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80136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$4.9M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01200" y="180136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by Year 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843784"/>
            <a:ext cx="3867912" cy="1024128"/>
          </a:xfrm>
          <a:prstGeom prst="roundRect">
            <a:avLst>
              <a:gd name="adj" fmla="val 7143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2953512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~84k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601200" y="295351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subscribers by Y5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3995928"/>
            <a:ext cx="3867912" cy="1024128"/>
          </a:xfrm>
          <a:prstGeom prst="roundRect">
            <a:avLst>
              <a:gd name="adj" fmla="val 7143"/>
            </a:avLst>
          </a:prstGeom>
          <a:solidFill>
            <a:srgbClr val="0F3A27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4105656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~Y3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601200" y="41056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profitable, bootstrapped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5148072"/>
            <a:ext cx="3867912" cy="1024128"/>
          </a:xfrm>
          <a:prstGeom prst="roundRect">
            <a:avLst>
              <a:gd name="adj" fmla="val 7143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955280" y="525780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~$45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601200" y="525780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ARPU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199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organic + content-led growth, 3.5→6% conversion, lean team. Upside (paid CAC, B2B, global)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data → availability → mobile offline AI →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is independently shippable</a:t>
            </a:r>
            <a:endParaRPr lang="en-US" sz="1400" dirty="0"/>
          </a:p>
        </p:txBody>
      </p:sp>
      <p:pic>
        <p:nvPicPr>
          <p:cNvPr id="4" name="Image 0" descr="/sessions/elegant-stoic-hypatia/mnt/outputs/charts/07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7589520" cy="3959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691640"/>
            <a:ext cx="3044952" cy="1060704"/>
          </a:xfrm>
          <a:prstGeom prst="roundRect">
            <a:avLst>
              <a:gd name="adj" fmla="val 6034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0" y="1993392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72600" y="180136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Public-lands data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trails + campgrounds, multi-agency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95360" y="2862072"/>
            <a:ext cx="3044952" cy="1060704"/>
          </a:xfrm>
          <a:prstGeom prst="roundRect">
            <a:avLst>
              <a:gd name="adj" fmla="val 6034"/>
            </a:avLst>
          </a:prstGeom>
          <a:solidFill>
            <a:srgbClr val="FAF7F0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0" y="3163824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37260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+ Camp Watch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14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 + cancellation alerts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95360" y="4032504"/>
            <a:ext cx="3044952" cy="1060704"/>
          </a:xfrm>
          <a:prstGeom prst="roundRect">
            <a:avLst>
              <a:gd name="adj" fmla="val 6034"/>
            </a:avLst>
          </a:prstGeom>
          <a:solidFill>
            <a:srgbClr val="1B5E3F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778240" y="4334256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372600" y="4142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offline AI ranger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premium differentiator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95360" y="5202936"/>
            <a:ext cx="3044952" cy="1060704"/>
          </a:xfrm>
          <a:prstGeom prst="roundRect">
            <a:avLst>
              <a:gd name="adj" fmla="val 6034"/>
            </a:avLst>
          </a:prstGeom>
          <a:solidFill>
            <a:srgbClr val="1B5E3F"/>
          </a:solidFill>
          <a:ln w="12700">
            <a:solidFill>
              <a:srgbClr val="EBE4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778240" y="5504688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372600" y="531266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scale
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tiers, affiliate/booking, data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561320" y="4572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TrailGraph wins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integrated, memory-native, offline-capable planner for U.S. public lands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3246120"/>
            <a:ext cx="201168" cy="20116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3108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quadrant — </a:t>
            </a:r>
            <a:pPr indent="0" marL="0">
              <a:buNone/>
            </a:pPr>
            <a:r>
              <a:rPr lang="en-US" sz="14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breadth + graph-native memory + offline AI — unoccupied by incumbents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201168" cy="20116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886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moat — </a:t>
            </a:r>
            <a:pPr indent="0" marL="0">
              <a:buNone/>
            </a:pPr>
            <a:r>
              <a:rPr lang="en-US" sz="14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&amp; cross-trip memory get harder to catch with every user and data source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201168" cy="20116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663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 to ~$4.9M — </a:t>
            </a:r>
            <a:pPr indent="0" marL="0">
              <a:buNone/>
            </a:pPr>
            <a:r>
              <a:rPr lang="en-US" sz="1400" dirty="0">
                <a:solidFill>
                  <a:srgbClr val="EA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~84k paid subscribers by Year 5, profitable by ~Year 3, no outside capital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B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TrailGraph  ·  the trip planner that remembers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TrailGraph Business Plan</dc:title>
  <dc:subject>PptxGenJS Presentation</dc:subject>
  <dc:creator>TrailGraph</dc:creator>
  <cp:lastModifiedBy>TrailGraph</cp:lastModifiedBy>
  <cp:revision>1</cp:revision>
  <dcterms:created xsi:type="dcterms:W3CDTF">2026-06-27T20:22:13Z</dcterms:created>
  <dcterms:modified xsi:type="dcterms:W3CDTF">2026-06-27T20:22:13Z</dcterms:modified>
</cp:coreProperties>
</file>